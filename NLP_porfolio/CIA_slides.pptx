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6858000" cy="9144000"/>
  <p:embeddedFontLst>
    <p:embeddedFont>
      <p:font typeface="Roboto Slab"/>
      <p:regular r:id="rId33"/>
      <p:bold r:id="rId34"/>
    </p:embeddedFont>
    <p:embeddedFont>
      <p:font typeface="Roboto"/>
      <p:regular r:id="rId35"/>
      <p:bold r:id="rId36"/>
      <p:italic r:id="rId37"/>
      <p:boldItalic r:id="rId38"/>
    </p:embeddedFont>
    <p:embeddedFont>
      <p:font typeface="Proxima Nova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4FD6CCB-1C08-4772-AB31-D1C2108C0AB0}">
  <a:tblStyle styleId="{14FD6CCB-1C08-4772-AB31-D1C2108C0AB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roximaNova-bold.fntdata"/><Relationship Id="rId20" Type="http://schemas.openxmlformats.org/officeDocument/2006/relationships/slide" Target="slides/slide14.xml"/><Relationship Id="rId42" Type="http://schemas.openxmlformats.org/officeDocument/2006/relationships/font" Target="fonts/ProximaNova-boldItalic.fntdata"/><Relationship Id="rId41" Type="http://schemas.openxmlformats.org/officeDocument/2006/relationships/font" Target="fonts/ProximaNova-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RobotoSlab-regular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Roboto-regular.fntdata"/><Relationship Id="rId12" Type="http://schemas.openxmlformats.org/officeDocument/2006/relationships/slide" Target="slides/slide6.xml"/><Relationship Id="rId34" Type="http://schemas.openxmlformats.org/officeDocument/2006/relationships/font" Target="fonts/RobotoSlab-bold.fntdata"/><Relationship Id="rId15" Type="http://schemas.openxmlformats.org/officeDocument/2006/relationships/slide" Target="slides/slide9.xml"/><Relationship Id="rId37" Type="http://schemas.openxmlformats.org/officeDocument/2006/relationships/font" Target="fonts/Roboto-italic.fntdata"/><Relationship Id="rId14" Type="http://schemas.openxmlformats.org/officeDocument/2006/relationships/slide" Target="slides/slide8.xml"/><Relationship Id="rId36" Type="http://schemas.openxmlformats.org/officeDocument/2006/relationships/font" Target="fonts/Roboto-bold.fntdata"/><Relationship Id="rId17" Type="http://schemas.openxmlformats.org/officeDocument/2006/relationships/slide" Target="slides/slide11.xml"/><Relationship Id="rId39" Type="http://schemas.openxmlformats.org/officeDocument/2006/relationships/font" Target="fonts/ProximaNova-regular.fntdata"/><Relationship Id="rId16" Type="http://schemas.openxmlformats.org/officeDocument/2006/relationships/slide" Target="slides/slide10.xml"/><Relationship Id="rId38" Type="http://schemas.openxmlformats.org/officeDocument/2006/relationships/font" Target="fonts/Roboto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94fdb379de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94fdb379de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Olivier</a:t>
            </a:r>
            <a:br>
              <a:rPr lang="en"/>
            </a:br>
            <a:r>
              <a:rPr lang="en"/>
              <a:t>Explain trailing stops. Explain graphic last drawdown. Minimize losses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4fdb379de_0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94fdb379de_0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PEER - Scalability</a:t>
            </a:r>
            <a:endParaRPr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Set up for improvements</a:t>
            </a:r>
            <a:endParaRPr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Daily data update after market close.</a:t>
            </a:r>
            <a:br>
              <a:rPr lang="en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Preprocessing → feature generation (~50 → 25).</a:t>
            </a:r>
            <a:br>
              <a:rPr lang="en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LightGBM = main model, trained with Optuna (4000 trials).</a:t>
            </a:r>
            <a:br>
              <a:rPr lang="en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Evaluation: RMSE, MAE, R².</a:t>
            </a:r>
            <a:endParaRPr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4fdb379de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94fdb379de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flow chart at </a:t>
            </a:r>
            <a:r>
              <a:rPr lang="en"/>
              <a:t>beginning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4fdb379de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4fdb379de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4fdb379d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94fdb379d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 the reasons why certain viewers enjoy the show. Such as strong emotional characters like gordon. The stress of cooking.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4fdb379d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94fdb379d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Shows very strong transcriptions through background noise, accents, and TV show sound effects.  Word error rate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4fdb379de_0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4fdb379de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rPr>
              <a:t>&lt; 5 words </a:t>
            </a:r>
            <a:r>
              <a:rPr lang="en" sz="1800"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rPr>
              <a:t>D</a:t>
            </a:r>
            <a:r>
              <a:rPr lang="en" sz="1800"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rPr>
              <a:t>ifficult to derive complex emotions with nuanced context, based on speaker more likely that a specific emotion is present, same sentences being labeled with differing emotion, Anticipation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cc2f8561b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9cc2f8561b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cc2f8561b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9cc2f8561b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d619776c6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9d619776c6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Reddit useful because it includes a lot of vocabulary and (casual language with slang), 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4fdb379de_0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94fdb379de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4fdb379de_0_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94fdb379de_0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16161"/>
              </a:buClr>
              <a:buSzPts val="1400"/>
              <a:buFont typeface="Proxima Nova"/>
              <a:buChar char="❏"/>
            </a:pPr>
            <a:r>
              <a:rPr lang="en" sz="1400"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rPr>
              <a:t>NSP (next sentence prediction) in BERT is not useful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cc2f8561b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9cc2f8561b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Olivier</a:t>
            </a:r>
            <a:br>
              <a:rPr lang="en"/>
            </a:br>
            <a:r>
              <a:rPr lang="en"/>
              <a:t>Explain trailing stops. Explain graphic last drawdown. Minimize losses 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9d619776c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9d619776c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9eecd87b6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9eecd87b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9d619776c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9d619776c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9d619776c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9d619776c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9c10f6933e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9c10f6933e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9ec1e54b1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9ec1e54b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94fdb379de_0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94fdb379de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Include scores from the model, why you chose the model you did, why your pipeline is more useful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94fdb379de_0_7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94fdb379de_0_7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Predictions, scalability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9cc2f8561b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9cc2f8561b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9cc2f8561b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9cc2f8561b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9cc2f8561b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9cc2f8561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9cc2f8561b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9cc2f8561b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Relationship Id="rId4" Type="http://schemas.openxmlformats.org/officeDocument/2006/relationships/hyperlink" Target="https://www.contentintelligence.nl/" TargetMode="External"/><Relationship Id="rId5" Type="http://schemas.openxmlformats.org/officeDocument/2006/relationships/hyperlink" Target="https://www.paulekman.com/wp-content/uploads/2013/07/Basic-Emotions.pdf" TargetMode="External"/><Relationship Id="rId6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edenai.co/post/top-free-sentiment-analysis-tools-apis-and-open-source-models" TargetMode="External"/><Relationship Id="rId4" Type="http://schemas.openxmlformats.org/officeDocument/2006/relationships/hyperlink" Target="https://www.edenai.co/post/top-free-sentiment-analysis-tools-apis-and-open-source-models" TargetMode="External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hyperlink" Target="https://www.contentintelligence.nl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hyperlink" Target="https://www.youtube.com/watch?v=hUDAKXdm2BM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hUDAKXdm2BM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www.youtube.com/watch?v=hUDAKXdm2BM" TargetMode="External"/><Relationship Id="rId4" Type="http://schemas.openxmlformats.org/officeDocument/2006/relationships/image" Target="../media/image3.jpg"/><Relationship Id="rId5" Type="http://schemas.openxmlformats.org/officeDocument/2006/relationships/hyperlink" Target="https://www.youtube.com/watch?v=hUDAKXdm2BM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jpg"/><Relationship Id="rId4" Type="http://schemas.openxmlformats.org/officeDocument/2006/relationships/hyperlink" Target="https://www.marketing91.com/ethical-considerations/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jpg"/><Relationship Id="rId4" Type="http://schemas.openxmlformats.org/officeDocument/2006/relationships/hyperlink" Target="https://www.elderresearch.com/blog/how-and-why-to-interpret-black-box-models/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922350" y="1794263"/>
            <a:ext cx="6129900" cy="137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 Intelligence Agency</a:t>
            </a:r>
            <a:r>
              <a:rPr lang="en"/>
              <a:t> Progress Report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-74250" y="3588538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By: Kade, Aryan, and Michael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65" name="Google Shape;6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6" name="Google Shape;66;p13" title="Screenshot 2025-10-28 at 4.07.37 PM.png"/>
          <p:cNvPicPr preferRelativeResize="0"/>
          <p:nvPr/>
        </p:nvPicPr>
        <p:blipFill rotWithShape="1">
          <a:blip r:embed="rId3">
            <a:alphaModFix/>
          </a:blip>
          <a:srcRect b="0" l="9329" r="0" t="0"/>
          <a:stretch/>
        </p:blipFill>
        <p:spPr>
          <a:xfrm>
            <a:off x="6743050" y="0"/>
            <a:ext cx="2400950" cy="141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5789375" y="49175"/>
            <a:ext cx="2373300" cy="60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Our Solution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2" name="Google Shape;72;p14"/>
          <p:cNvSpPr txBox="1"/>
          <p:nvPr>
            <p:ph idx="1" type="body"/>
          </p:nvPr>
        </p:nvSpPr>
        <p:spPr>
          <a:xfrm>
            <a:off x="4572000" y="504625"/>
            <a:ext cx="4564200" cy="3047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Development of a robust emotion classification pipeline that:</a:t>
            </a:r>
            <a:endParaRPr>
              <a:solidFill>
                <a:schemeClr val="dk1"/>
              </a:solidFill>
            </a:endParaRPr>
          </a:p>
          <a:p>
            <a:pPr indent="-334327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❏"/>
            </a:pPr>
            <a:r>
              <a:rPr lang="en"/>
              <a:t>Transcribes</a:t>
            </a:r>
            <a:r>
              <a:rPr lang="en">
                <a:solidFill>
                  <a:schemeClr val="dk1"/>
                </a:solidFill>
              </a:rPr>
              <a:t> english video transcripts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❏"/>
            </a:pPr>
            <a:r>
              <a:rPr lang="en">
                <a:solidFill>
                  <a:schemeClr val="dk1"/>
                </a:solidFill>
              </a:rPr>
              <a:t>Classify emotions </a:t>
            </a:r>
            <a:r>
              <a:rPr lang="en"/>
              <a:t>(Happiness, Neutral, </a:t>
            </a:r>
            <a:r>
              <a:rPr lang="en"/>
              <a:t>Surprise</a:t>
            </a:r>
            <a:r>
              <a:rPr lang="en"/>
              <a:t>, Fear, Anger, Disgust, Sadness, The Paul Ekman 6) using Transformer</a:t>
            </a:r>
            <a:endParaRPr>
              <a:solidFill>
                <a:schemeClr val="dk1"/>
              </a:solidFill>
            </a:endParaRPr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❏"/>
            </a:pPr>
            <a:r>
              <a:rPr lang="en"/>
              <a:t>Strong</a:t>
            </a:r>
            <a:r>
              <a:rPr lang="en">
                <a:solidFill>
                  <a:schemeClr val="dk1"/>
                </a:solidFill>
              </a:rPr>
              <a:t> generalization to </a:t>
            </a:r>
            <a:r>
              <a:rPr lang="en"/>
              <a:t>all</a:t>
            </a:r>
            <a:r>
              <a:rPr lang="en">
                <a:solidFill>
                  <a:schemeClr val="dk1"/>
                </a:solidFill>
              </a:rPr>
              <a:t> content types</a:t>
            </a:r>
            <a:endParaRPr>
              <a:solidFill>
                <a:schemeClr val="dk1"/>
              </a:solidFill>
            </a:endParaRPr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❏"/>
            </a:pPr>
            <a:r>
              <a:rPr lang="en">
                <a:solidFill>
                  <a:schemeClr val="dk1"/>
                </a:solidFill>
              </a:rPr>
              <a:t>Provides </a:t>
            </a:r>
            <a:r>
              <a:rPr lang="en"/>
              <a:t>explainability and </a:t>
            </a:r>
            <a:r>
              <a:rPr lang="en">
                <a:solidFill>
                  <a:schemeClr val="dk1"/>
                </a:solidFill>
              </a:rPr>
              <a:t>confidence metrics for business decision-making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</p:txBody>
      </p:sp>
      <p:pic>
        <p:nvPicPr>
          <p:cNvPr descr="The Six Universal Emotions — 42courses.com"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5950" y="3191764"/>
            <a:ext cx="2373300" cy="121186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0" y="0"/>
            <a:ext cx="4564200" cy="47631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>
            <a:off x="542975" y="504625"/>
            <a:ext cx="4021200" cy="265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29"/>
              <a:t>Content Intelligence Agency</a:t>
            </a:r>
            <a:endParaRPr sz="1829"/>
          </a:p>
          <a:p>
            <a:pPr indent="-34480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30"/>
              <a:buChar char="❏"/>
            </a:pPr>
            <a:r>
              <a:rPr lang="en" sz="1829"/>
              <a:t>Remove LLMs</a:t>
            </a:r>
            <a:endParaRPr sz="1829"/>
          </a:p>
          <a:p>
            <a:pPr indent="-34480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Char char="❏"/>
            </a:pPr>
            <a:r>
              <a:rPr lang="en" sz="1829"/>
              <a:t>Detect Emotions with Pipeline</a:t>
            </a:r>
            <a:endParaRPr sz="1829"/>
          </a:p>
          <a:p>
            <a:pPr indent="-34480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Char char="❏"/>
            </a:pPr>
            <a:r>
              <a:rPr lang="en" sz="1829"/>
              <a:t>Reduce Cost</a:t>
            </a:r>
            <a:endParaRPr sz="1829"/>
          </a:p>
          <a:p>
            <a:pPr indent="-34480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Char char="❏"/>
            </a:pPr>
            <a:r>
              <a:rPr lang="en" sz="1829"/>
              <a:t>Reduce Prediction Time</a:t>
            </a:r>
            <a:endParaRPr sz="1829"/>
          </a:p>
          <a:p>
            <a:pPr indent="-34480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30"/>
              <a:buChar char="❏"/>
            </a:pPr>
            <a:r>
              <a:rPr lang="en" sz="1829"/>
              <a:t>Eliminate Reliance on other Companies</a:t>
            </a:r>
            <a:endParaRPr sz="1829"/>
          </a:p>
        </p:txBody>
      </p:sp>
      <p:sp>
        <p:nvSpPr>
          <p:cNvPr id="77" name="Google Shape;77;p14"/>
          <p:cNvSpPr txBox="1"/>
          <p:nvPr/>
        </p:nvSpPr>
        <p:spPr>
          <a:xfrm>
            <a:off x="286150" y="4528850"/>
            <a:ext cx="418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 txBox="1"/>
          <p:nvPr/>
        </p:nvSpPr>
        <p:spPr>
          <a:xfrm>
            <a:off x="436000" y="4355375"/>
            <a:ext cx="3889800" cy="4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29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[</a:t>
            </a:r>
            <a:r>
              <a:rPr lang="en" sz="1829" u="sng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Content Intelligence Agency</a:t>
            </a:r>
            <a:r>
              <a:rPr lang="en" sz="1829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, 2025]</a:t>
            </a:r>
            <a:endParaRPr sz="1829">
              <a:solidFill>
                <a:schemeClr val="accent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9" name="Google Shape;79;p14"/>
          <p:cNvSpPr txBox="1"/>
          <p:nvPr>
            <p:ph type="title"/>
          </p:nvPr>
        </p:nvSpPr>
        <p:spPr>
          <a:xfrm>
            <a:off x="995389" y="49175"/>
            <a:ext cx="2573400" cy="60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Challenge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5695950" y="4355375"/>
            <a:ext cx="2316300" cy="4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29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[</a:t>
            </a:r>
            <a:r>
              <a:rPr lang="en" sz="1829" u="sng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Paul Ekman 6</a:t>
            </a:r>
            <a:r>
              <a:rPr lang="en" sz="1829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, 1999]</a:t>
            </a:r>
            <a:endParaRPr/>
          </a:p>
        </p:txBody>
      </p:sp>
      <p:sp>
        <p:nvSpPr>
          <p:cNvPr id="81" name="Google Shape;81;p14"/>
          <p:cNvSpPr txBox="1"/>
          <p:nvPr/>
        </p:nvSpPr>
        <p:spPr>
          <a:xfrm>
            <a:off x="4564200" y="3191775"/>
            <a:ext cx="4579800" cy="1571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Key Achievement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Current model achieves 0.59 macro F1 score with targeted improvements underway to reach the 0.75 objective.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2" name="Google Shape;82;p14" title="Screenshot 2025-10-28 at 4.07.37 PM.png"/>
          <p:cNvPicPr preferRelativeResize="0"/>
          <p:nvPr/>
        </p:nvPicPr>
        <p:blipFill rotWithShape="1">
          <a:blip r:embed="rId6">
            <a:alphaModFix/>
          </a:blip>
          <a:srcRect b="0" l="9329" r="0" t="0"/>
          <a:stretch/>
        </p:blipFill>
        <p:spPr>
          <a:xfrm>
            <a:off x="1180425" y="2984400"/>
            <a:ext cx="2400950" cy="141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/>
          <p:nvPr>
            <p:ph type="title"/>
          </p:nvPr>
        </p:nvSpPr>
        <p:spPr>
          <a:xfrm>
            <a:off x="2814300" y="414375"/>
            <a:ext cx="3515400" cy="60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Pipeline Overview</a:t>
            </a:r>
            <a:endParaRPr/>
          </a:p>
        </p:txBody>
      </p:sp>
      <p:sp>
        <p:nvSpPr>
          <p:cNvPr id="88" name="Google Shape;88;p15"/>
          <p:cNvSpPr txBox="1"/>
          <p:nvPr>
            <p:ph idx="1" type="body"/>
          </p:nvPr>
        </p:nvSpPr>
        <p:spPr>
          <a:xfrm>
            <a:off x="693350" y="1254575"/>
            <a:ext cx="8520600" cy="7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2"/>
                </a:solidFill>
              </a:rPr>
              <a:t> </a:t>
            </a:r>
            <a:r>
              <a:rPr lang="en"/>
              <a:t>   </a:t>
            </a:r>
            <a:r>
              <a:rPr b="1" lang="en"/>
              <a:t>   </a:t>
            </a:r>
            <a:r>
              <a:rPr b="1" lang="en"/>
              <a:t>   </a:t>
            </a:r>
            <a:r>
              <a:rPr lang="en"/>
              <a:t>YouTube link</a:t>
            </a:r>
            <a:r>
              <a:rPr lang="en"/>
              <a:t>		     Data Preprocessing 	  Accurate Classification</a:t>
            </a:r>
            <a:endParaRPr/>
          </a:p>
        </p:txBody>
      </p:sp>
      <p:sp>
        <p:nvSpPr>
          <p:cNvPr id="89" name="Google Shape;8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15"/>
          <p:cNvSpPr/>
          <p:nvPr/>
        </p:nvSpPr>
        <p:spPr>
          <a:xfrm flipH="1" rot="8100000">
            <a:off x="2307488" y="1562151"/>
            <a:ext cx="1671176" cy="1356796"/>
          </a:xfrm>
          <a:prstGeom prst="bentArrow">
            <a:avLst>
              <a:gd fmla="val 25000" name="adj1"/>
              <a:gd fmla="val 25000" name="adj2"/>
              <a:gd fmla="val 25000" name="adj3"/>
              <a:gd fmla="val 56200" name="adj4"/>
            </a:avLst>
          </a:prstGeom>
          <a:solidFill>
            <a:srgbClr val="33B49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15"/>
          <p:cNvSpPr/>
          <p:nvPr/>
        </p:nvSpPr>
        <p:spPr>
          <a:xfrm flipH="1" rot="8100000">
            <a:off x="5388038" y="1562151"/>
            <a:ext cx="1671176" cy="1356796"/>
          </a:xfrm>
          <a:prstGeom prst="bentArrow">
            <a:avLst>
              <a:gd fmla="val 25000" name="adj1"/>
              <a:gd fmla="val 25000" name="adj2"/>
              <a:gd fmla="val 25000" name="adj3"/>
              <a:gd fmla="val 56200" name="adj4"/>
            </a:avLst>
          </a:prstGeom>
          <a:solidFill>
            <a:srgbClr val="33B49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p15"/>
          <p:cNvSpPr txBox="1"/>
          <p:nvPr/>
        </p:nvSpPr>
        <p:spPr>
          <a:xfrm>
            <a:off x="1174225" y="3218125"/>
            <a:ext cx="737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Transcription Using Whisper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	          Transformer Model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474250" y="310150"/>
            <a:ext cx="3047700" cy="86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Industry Context</a:t>
            </a:r>
            <a:endParaRPr sz="2600"/>
          </a:p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4722075" y="1391663"/>
            <a:ext cx="4260300" cy="30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Growing demand: 82% of internet traffic will be video by 2025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Content moderation: Manual emotion tagging is expensive (~$50K/month for mid-size platforms)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Viewer insights: Emotion analysis drives 30% better content recommendations</a:t>
            </a:r>
            <a:endParaRPr/>
          </a:p>
        </p:txBody>
      </p:sp>
      <p:sp>
        <p:nvSpPr>
          <p:cNvPr id="99" name="Google Shape;9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16"/>
          <p:cNvSpPr txBox="1"/>
          <p:nvPr/>
        </p:nvSpPr>
        <p:spPr>
          <a:xfrm>
            <a:off x="1625261" y="4196725"/>
            <a:ext cx="1794300" cy="4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29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[</a:t>
            </a:r>
            <a:r>
              <a:rPr lang="en" sz="1829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3"/>
              </a:rPr>
              <a:t>E</a:t>
            </a:r>
            <a:r>
              <a:rPr lang="en" sz="1829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4"/>
              </a:rPr>
              <a:t>den AI</a:t>
            </a:r>
            <a:r>
              <a:rPr lang="en" sz="1829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, 2023]</a:t>
            </a:r>
            <a:endParaRPr>
              <a:solidFill>
                <a:schemeClr val="accent5"/>
              </a:solidFill>
            </a:endParaRPr>
          </a:p>
        </p:txBody>
      </p:sp>
      <p:pic>
        <p:nvPicPr>
          <p:cNvPr id="101" name="Google Shape;101;p16" title="Screenshot 2025-10-28 at 4.13.26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3775" y="1472975"/>
            <a:ext cx="4417275" cy="2585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/>
          <p:nvPr>
            <p:ph type="title"/>
          </p:nvPr>
        </p:nvSpPr>
        <p:spPr>
          <a:xfrm>
            <a:off x="388825" y="509375"/>
            <a:ext cx="7507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Added Value for Content Intelligence Agency</a:t>
            </a:r>
            <a:endParaRPr/>
          </a:p>
        </p:txBody>
      </p:sp>
      <p:sp>
        <p:nvSpPr>
          <p:cNvPr id="107" name="Google Shape;107;p17"/>
          <p:cNvSpPr txBox="1"/>
          <p:nvPr>
            <p:ph idx="1" type="body"/>
          </p:nvPr>
        </p:nvSpPr>
        <p:spPr>
          <a:xfrm>
            <a:off x="4579337" y="124682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Cost Reduction: 80% reduction in manual annotation costs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Scalability: Process 1000+ hours of content daily vs. 50 hours manually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Consistency: Eliminate human annotator disagreement (currently 25-30% variance)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Real-time Analysis: Enable live content moderation and recommendation</a:t>
            </a:r>
            <a:endParaRPr/>
          </a:p>
        </p:txBody>
      </p:sp>
      <p:sp>
        <p:nvSpPr>
          <p:cNvPr id="108" name="Google Shape;10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9" name="Google Shape;109;p17" title="Screenshot 2025-10-22 at 12.41.3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825" y="1388413"/>
            <a:ext cx="4267200" cy="2564714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7"/>
          <p:cNvSpPr txBox="1"/>
          <p:nvPr/>
        </p:nvSpPr>
        <p:spPr>
          <a:xfrm>
            <a:off x="538225" y="4196725"/>
            <a:ext cx="3968400" cy="4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29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[</a:t>
            </a:r>
            <a:r>
              <a:rPr lang="en" sz="1829" u="sng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Content Intelligence Agency</a:t>
            </a:r>
            <a:r>
              <a:rPr lang="en" sz="1829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, 2025]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311700" y="282075"/>
            <a:ext cx="7038900" cy="91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Case: MasterChef Kitchen USA</a:t>
            </a:r>
            <a:endParaRPr/>
          </a:p>
        </p:txBody>
      </p:sp>
      <p:sp>
        <p:nvSpPr>
          <p:cNvPr id="116" name="Google Shape;116;p18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Test domain: Reality TV cooking competition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Rich emotional content: High-stress environment with diverse emotions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Business application: Understanding viewer engagement patterns for content optimization</a:t>
            </a:r>
            <a:endParaRPr/>
          </a:p>
        </p:txBody>
      </p:sp>
      <p:pic>
        <p:nvPicPr>
          <p:cNvPr id="117" name="Google Shape;117;p18" title="Screenshot 2025-10-21 at 4.09.58 PM.png"/>
          <p:cNvPicPr preferRelativeResize="0"/>
          <p:nvPr/>
        </p:nvPicPr>
        <p:blipFill rotWithShape="1">
          <a:blip r:embed="rId3">
            <a:alphaModFix/>
          </a:blip>
          <a:srcRect b="2037" l="0" r="0" t="0"/>
          <a:stretch/>
        </p:blipFill>
        <p:spPr>
          <a:xfrm>
            <a:off x="4717350" y="1152475"/>
            <a:ext cx="3893325" cy="346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8"/>
          <p:cNvSpPr txBox="1"/>
          <p:nvPr/>
        </p:nvSpPr>
        <p:spPr>
          <a:xfrm>
            <a:off x="5363663" y="4629175"/>
            <a:ext cx="260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[</a:t>
            </a:r>
            <a:r>
              <a:rPr lang="en" sz="1800" u="sng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MasterChef USA</a:t>
            </a:r>
            <a:r>
              <a:rPr lang="en" sz="1800">
                <a:solidFill>
                  <a:schemeClr val="accent5"/>
                </a:solidFill>
              </a:rPr>
              <a:t>, 2023]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19" name="Google Shape;11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311700" y="279975"/>
            <a:ext cx="8520600" cy="46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</a:endParaRPr>
          </a:p>
        </p:txBody>
      </p:sp>
      <p:sp>
        <p:nvSpPr>
          <p:cNvPr id="125" name="Google Shape;125;p19"/>
          <p:cNvSpPr txBox="1"/>
          <p:nvPr>
            <p:ph idx="1" type="body"/>
          </p:nvPr>
        </p:nvSpPr>
        <p:spPr>
          <a:xfrm>
            <a:off x="4572000" y="815050"/>
            <a:ext cx="4260300" cy="3416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Manually inspected first 180 sentences of transcriptions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(1673 words)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Assembly AI: 0.9% WER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(0.009 = less than 1 error per 100 words)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Whisper: 0.24% WER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(0.002 = about 1 error per 400 words)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Industry standard: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15-20% WER for spontaneous speech</a:t>
            </a:r>
            <a:endParaRPr/>
          </a:p>
        </p:txBody>
      </p:sp>
      <p:sp>
        <p:nvSpPr>
          <p:cNvPr id="126" name="Google Shape;126;p19"/>
          <p:cNvSpPr txBox="1"/>
          <p:nvPr>
            <p:ph type="title"/>
          </p:nvPr>
        </p:nvSpPr>
        <p:spPr>
          <a:xfrm>
            <a:off x="243337" y="514775"/>
            <a:ext cx="2742900" cy="69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Transcription</a:t>
            </a:r>
            <a:endParaRPr/>
          </a:p>
        </p:txBody>
      </p:sp>
      <p:pic>
        <p:nvPicPr>
          <p:cNvPr id="127" name="Google Shape;127;p19" title="Screenshot 2025-10-21 at 4.26.3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050" y="1380562"/>
            <a:ext cx="4427951" cy="247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19"/>
          <p:cNvSpPr txBox="1"/>
          <p:nvPr/>
        </p:nvSpPr>
        <p:spPr>
          <a:xfrm>
            <a:off x="1057663" y="4231450"/>
            <a:ext cx="260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[</a:t>
            </a:r>
            <a:r>
              <a:rPr lang="en" sz="1800" u="sng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MasterChef USA</a:t>
            </a:r>
            <a:r>
              <a:rPr lang="en" sz="1800">
                <a:solidFill>
                  <a:schemeClr val="accent5"/>
                </a:solidFill>
              </a:rPr>
              <a:t>, 2023]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>
            <p:ph type="title"/>
          </p:nvPr>
        </p:nvSpPr>
        <p:spPr>
          <a:xfrm>
            <a:off x="176100" y="243175"/>
            <a:ext cx="8562600" cy="91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Set</a:t>
            </a:r>
            <a:endParaRPr/>
          </a:p>
        </p:txBody>
      </p:sp>
      <p:sp>
        <p:nvSpPr>
          <p:cNvPr id="135" name="Google Shape;135;p20"/>
          <p:cNvSpPr txBox="1"/>
          <p:nvPr>
            <p:ph idx="1" type="body"/>
          </p:nvPr>
        </p:nvSpPr>
        <p:spPr>
          <a:xfrm>
            <a:off x="5481901" y="811000"/>
            <a:ext cx="3066000" cy="419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80% </a:t>
            </a:r>
            <a:r>
              <a:rPr lang="en"/>
              <a:t>short sentences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Speaker bias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Class imbalance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 sz="1400"/>
              <a:t>50%: happy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 sz="1400"/>
              <a:t>25%: neutral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 sz="1400"/>
              <a:t>25%: five emotions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Specific domain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Slang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Vocabulary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Multiclass sentences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Anticipation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20" title="Screenshot 2025-10-21 at 4.54.06 PM.png"/>
          <p:cNvPicPr preferRelativeResize="0"/>
          <p:nvPr/>
        </p:nvPicPr>
        <p:blipFill rotWithShape="1">
          <a:blip r:embed="rId3">
            <a:alphaModFix/>
          </a:blip>
          <a:srcRect b="1900" l="737" r="934" t="1601"/>
          <a:stretch/>
        </p:blipFill>
        <p:spPr>
          <a:xfrm>
            <a:off x="522875" y="1404475"/>
            <a:ext cx="4723800" cy="300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>
            <p:ph type="title"/>
          </p:nvPr>
        </p:nvSpPr>
        <p:spPr>
          <a:xfrm>
            <a:off x="92550" y="184400"/>
            <a:ext cx="89589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Field Example: “</a:t>
            </a:r>
            <a:r>
              <a:rPr lang="en"/>
              <a:t>I didn't come here to not get an apron”</a:t>
            </a:r>
            <a:endParaRPr/>
          </a:p>
        </p:txBody>
      </p:sp>
      <p:sp>
        <p:nvSpPr>
          <p:cNvPr id="143" name="Google Shape;14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Watch as MasterChef re-open doors to some of the talented cooks in the competition history. These all-stars will get a second chance to prove that they also deserve the title. &#10;&#10;#MasterChefUSA #MasterChefUSAS12 #BackToWin &#10;&#10;Watch more Lifetime!&#10;&#10;Subscribe to Lifetime Asia: https://www.youtube.com/user/lifetimeasiatv&#10;Like us on Facebook: https://www.facebook.com/LifetimeAsia&#10;Find us on Instagram: https://www.instagram.com/lifetimeasia&#10;Watch Lifetime Play on Apple TV: https://geni.us/lifetimeplaySEA&#10;&#10;About:&#10;Lifetime® is a leading female entertainment destination devoted to providing the finest quality original content in the form of scripted series, factual programs, and movies." id="144" name="Google Shape;144;p21" title="MasterChef USA (S12): Full Ep 1 | A Second Chance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3150" y="827966"/>
            <a:ext cx="6757700" cy="38012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1"/>
          <p:cNvSpPr txBox="1"/>
          <p:nvPr/>
        </p:nvSpPr>
        <p:spPr>
          <a:xfrm>
            <a:off x="1196000" y="4629175"/>
            <a:ext cx="709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[</a:t>
            </a:r>
            <a:r>
              <a:rPr lang="en" sz="1800" u="sng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MasterChef USA (S12): Full Ep 1 | A Second Chance</a:t>
            </a: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, 2023]</a:t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>
            <p:ph type="title"/>
          </p:nvPr>
        </p:nvSpPr>
        <p:spPr>
          <a:xfrm>
            <a:off x="387900" y="480050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Test Set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Inconsistencies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" name="Google Shape;151;p22"/>
          <p:cNvSpPr txBox="1"/>
          <p:nvPr>
            <p:ph idx="1" type="body"/>
          </p:nvPr>
        </p:nvSpPr>
        <p:spPr>
          <a:xfrm>
            <a:off x="594150" y="1551925"/>
            <a:ext cx="4184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Energetic Season Opener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Forced Emotion for show understanding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“Let’s go”: happy appears 25x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Happy e</a:t>
            </a:r>
            <a:r>
              <a:rPr lang="en"/>
              <a:t>xclamations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Neutral responses to directions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Inconsistent Classifications</a:t>
            </a:r>
            <a:endParaRPr/>
          </a:p>
        </p:txBody>
      </p:sp>
      <p:sp>
        <p:nvSpPr>
          <p:cNvPr id="152" name="Google Shape;15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53" name="Google Shape;153;p22"/>
          <p:cNvGraphicFramePr/>
          <p:nvPr/>
        </p:nvGraphicFramePr>
        <p:xfrm>
          <a:off x="5063625" y="996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{14FD6CCB-1C08-4772-AB31-D1C2108C0AB0}</a:tableStyleId>
              </a:tblPr>
              <a:tblGrid>
                <a:gridCol w="1287500"/>
                <a:gridCol w="1287500"/>
                <a:gridCol w="1287500"/>
              </a:tblGrid>
              <a:tr h="318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Sentence</a:t>
                      </a:r>
                      <a:endParaRPr b="1" sz="9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76200" marL="76200" anchor="ctr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Emotion_fine</a:t>
                      </a:r>
                      <a:endParaRPr b="1" sz="9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76200" marL="76200" anchor="ctr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Emotion_core</a:t>
                      </a:r>
                      <a:endParaRPr b="1" sz="9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76200" marL="76200" anchor="ctr">
                    <a:solidFill>
                      <a:schemeClr val="dk2"/>
                    </a:solidFill>
                  </a:tcPr>
                </a:tc>
              </a:tr>
              <a:tr h="5861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But this is the most important component on my...</a:t>
                      </a:r>
                      <a:endParaRPr sz="9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priority</a:t>
                      </a:r>
                      <a:endParaRPr sz="9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neutral</a:t>
                      </a:r>
                      <a:endParaRPr sz="9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76200" marL="76200"/>
                </a:tc>
              </a:tr>
              <a:tr h="3671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 didn't come here to not get an apron.</a:t>
                      </a:r>
                      <a:endParaRPr b="1" sz="9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76200" marL="76200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determination</a:t>
                      </a:r>
                      <a:endParaRPr b="1" sz="9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76200" marL="76200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anger</a:t>
                      </a:r>
                      <a:endParaRPr b="1" sz="9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76200" marL="76200">
                    <a:solidFill>
                      <a:srgbClr val="980000"/>
                    </a:solidFill>
                  </a:tcPr>
                </a:tc>
              </a:tr>
              <a:tr h="3671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 got to just push, and I can do it.</a:t>
                      </a:r>
                      <a:endParaRPr sz="9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anticipation</a:t>
                      </a:r>
                      <a:endParaRPr sz="9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surprise</a:t>
                      </a:r>
                      <a:endParaRPr sz="9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76200" marL="76200"/>
                </a:tc>
              </a:tr>
            </a:tbl>
          </a:graphicData>
        </a:graphic>
      </p:graphicFrame>
      <p:graphicFrame>
        <p:nvGraphicFramePr>
          <p:cNvPr id="154" name="Google Shape;154;p22"/>
          <p:cNvGraphicFramePr/>
          <p:nvPr/>
        </p:nvGraphicFramePr>
        <p:xfrm>
          <a:off x="5063625" y="2984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{14FD6CCB-1C08-4772-AB31-D1C2108C0AB0}</a:tableStyleId>
              </a:tblPr>
              <a:tblGrid>
                <a:gridCol w="1287500"/>
                <a:gridCol w="1287500"/>
                <a:gridCol w="1287500"/>
              </a:tblGrid>
              <a:tr h="318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Sentence</a:t>
                      </a:r>
                      <a:endParaRPr b="1" sz="9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Emotion_fine</a:t>
                      </a:r>
                      <a:endParaRPr b="1" sz="9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Emotion_core</a:t>
                      </a:r>
                      <a:endParaRPr b="1" sz="9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861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But this is the most important component on my...</a:t>
                      </a:r>
                      <a:endParaRPr sz="9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determination</a:t>
                      </a:r>
                      <a:endParaRPr sz="9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neutral</a:t>
                      </a:r>
                      <a:endParaRPr sz="9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71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 didn't come here to not get an apron.</a:t>
                      </a:r>
                      <a:endParaRPr b="1"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B49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resolve</a:t>
                      </a:r>
                      <a:endParaRPr b="1"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B49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happiness</a:t>
                      </a:r>
                      <a:endParaRPr b="1"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B49D"/>
                    </a:solidFill>
                  </a:tcPr>
                </a:tc>
              </a:tr>
              <a:tr h="3671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 got to just push, and I can do it.</a:t>
                      </a:r>
                      <a:endParaRPr sz="9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motivation</a:t>
                      </a:r>
                      <a:endParaRPr sz="9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happiness</a:t>
                      </a:r>
                      <a:endParaRPr sz="9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76200" marL="7620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5" name="Google Shape;155;p22"/>
          <p:cNvSpPr txBox="1"/>
          <p:nvPr/>
        </p:nvSpPr>
        <p:spPr>
          <a:xfrm>
            <a:off x="6322875" y="623000"/>
            <a:ext cx="13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First Instance: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22"/>
          <p:cNvSpPr txBox="1"/>
          <p:nvPr/>
        </p:nvSpPr>
        <p:spPr>
          <a:xfrm>
            <a:off x="6194175" y="2583850"/>
            <a:ext cx="160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Second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Instance: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/>
          <p:nvPr>
            <p:ph type="title"/>
          </p:nvPr>
        </p:nvSpPr>
        <p:spPr>
          <a:xfrm>
            <a:off x="387900" y="458025"/>
            <a:ext cx="31140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Dataset</a:t>
            </a:r>
            <a:endParaRPr/>
          </a:p>
        </p:txBody>
      </p:sp>
      <p:sp>
        <p:nvSpPr>
          <p:cNvPr id="162" name="Google Shape;162;p23"/>
          <p:cNvSpPr txBox="1"/>
          <p:nvPr>
            <p:ph idx="1" type="body"/>
          </p:nvPr>
        </p:nvSpPr>
        <p:spPr>
          <a:xfrm>
            <a:off x="255825" y="1254900"/>
            <a:ext cx="3246000" cy="37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Focus on generalizability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Go Emotions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Vocabulary coverage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 sz="1400"/>
              <a:t>Reddit</a:t>
            </a:r>
            <a:endParaRPr sz="14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234,000 </a:t>
            </a:r>
            <a:r>
              <a:rPr lang="en"/>
              <a:t>Sentences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27 emotions mapped to Ekman Six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Label Encoded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Sub-sampled to 21,000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3,000 per class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80:10:10 Data Split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Tokenized Sentences</a:t>
            </a:r>
            <a:endParaRPr/>
          </a:p>
        </p:txBody>
      </p:sp>
      <p:sp>
        <p:nvSpPr>
          <p:cNvPr id="163" name="Google Shape;16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64" name="Google Shape;164;p23"/>
          <p:cNvGraphicFramePr/>
          <p:nvPr/>
        </p:nvGraphicFramePr>
        <p:xfrm>
          <a:off x="3426625" y="523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{14FD6CCB-1C08-4772-AB31-D1C2108C0AB0}</a:tableStyleId>
              </a:tblPr>
              <a:tblGrid>
                <a:gridCol w="2565375"/>
                <a:gridCol w="27502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Sentence</a:t>
                      </a:r>
                      <a:endParaRPr b="1"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Emotion</a:t>
                      </a:r>
                      <a:endParaRPr b="1"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chemeClr val="dk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That game hurt.	</a:t>
                      </a:r>
                      <a:endParaRPr b="1"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Sadness</a:t>
                      </a:r>
                      <a:endParaRPr b="1"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</a:tr>
              <a:tr h="44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That is odd.</a:t>
                      </a:r>
                      <a:endParaRPr b="1"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Confusion</a:t>
                      </a:r>
                      <a:endParaRPr b="1"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Dark and funny, but not really nice guy.</a:t>
                      </a:r>
                      <a:endParaRPr b="1"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Disgust</a:t>
                      </a:r>
                      <a:endParaRPr b="1"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By far the coolest thing I've seen on this trip.</a:t>
                      </a:r>
                      <a:endParaRPr b="1"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Admiration</a:t>
                      </a:r>
                      <a:endParaRPr b="1"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5" name="Google Shape;165;p23"/>
          <p:cNvGraphicFramePr/>
          <p:nvPr/>
        </p:nvGraphicFramePr>
        <p:xfrm>
          <a:off x="3426613" y="2971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{14FD6CCB-1C08-4772-AB31-D1C2108C0AB0}</a:tableStyleId>
              </a:tblPr>
              <a:tblGrid>
                <a:gridCol w="2657825"/>
                <a:gridCol w="2657825"/>
              </a:tblGrid>
              <a:tr h="276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Tokens</a:t>
                      </a:r>
                      <a:endParaRPr b="1" sz="9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76200" marL="76200" anchor="ctr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Emotion</a:t>
                      </a:r>
                      <a:endParaRPr b="1" sz="9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76200" marL="76200" anchor="ctr">
                    <a:solidFill>
                      <a:schemeClr val="dk2"/>
                    </a:solidFill>
                  </a:tcPr>
                </a:tc>
              </a:tr>
              <a:tr h="39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[that, game, hurt]</a:t>
                      </a:r>
                      <a:endParaRPr b="1" sz="9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76200" marL="7620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 (Sadness)</a:t>
                      </a:r>
                      <a:endParaRPr b="1" sz="9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76200" marL="76200">
                    <a:solidFill>
                      <a:schemeClr val="accent3"/>
                    </a:solidFill>
                  </a:tcPr>
                </a:tc>
              </a:tr>
              <a:tr h="200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[that, odd]</a:t>
                      </a:r>
                      <a:endParaRPr b="1" sz="9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76200" marL="7620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 (Surprise)</a:t>
                      </a:r>
                      <a:endParaRPr b="1" sz="9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76200" marL="76200">
                    <a:solidFill>
                      <a:schemeClr val="accent3"/>
                    </a:solidFill>
                  </a:tcPr>
                </a:tc>
              </a:tr>
              <a:tr h="511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[dark, funn</a:t>
                      </a:r>
                      <a:r>
                        <a:rPr b="1" lang="en" sz="9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</a:t>
                      </a:r>
                      <a:r>
                        <a:rPr b="1" lang="en" sz="9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reall</a:t>
                      </a:r>
                      <a:r>
                        <a:rPr b="1" lang="en" sz="9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</a:t>
                      </a:r>
                      <a:r>
                        <a:rPr b="1" lang="en" sz="9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nice, guy]</a:t>
                      </a:r>
                      <a:endParaRPr b="1" sz="9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76200" marL="7620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 (Disgust)</a:t>
                      </a:r>
                      <a:endParaRPr b="1" sz="9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76200" marL="76200">
                    <a:solidFill>
                      <a:schemeClr val="accent3"/>
                    </a:solidFill>
                  </a:tcPr>
                </a:tc>
              </a:tr>
              <a:tr h="629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[by, far, coolest, thing, i'v, seen, on, this, trip]</a:t>
                      </a:r>
                      <a:endParaRPr b="1" sz="9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76200" marL="7620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 (Happiness)</a:t>
                      </a:r>
                      <a:endParaRPr b="1" sz="9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76200" marL="76200"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sp>
        <p:nvSpPr>
          <p:cNvPr id="166" name="Google Shape;166;p23"/>
          <p:cNvSpPr txBox="1"/>
          <p:nvPr/>
        </p:nvSpPr>
        <p:spPr>
          <a:xfrm>
            <a:off x="4368000" y="123275"/>
            <a:ext cx="343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shape before cleaning: 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(234,000, 2)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23"/>
          <p:cNvSpPr txBox="1"/>
          <p:nvPr/>
        </p:nvSpPr>
        <p:spPr>
          <a:xfrm>
            <a:off x="4499100" y="2571750"/>
            <a:ext cx="317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shape after cleaning: (21,000, 2)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Comparison</a:t>
            </a:r>
            <a:endParaRPr/>
          </a:p>
        </p:txBody>
      </p:sp>
      <p:sp>
        <p:nvSpPr>
          <p:cNvPr id="173" name="Google Shape;17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74" name="Google Shape;174;p24"/>
          <p:cNvGraphicFramePr/>
          <p:nvPr/>
        </p:nvGraphicFramePr>
        <p:xfrm>
          <a:off x="387900" y="1400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{14FD6CCB-1C08-4772-AB31-D1C2108C0AB0}</a:tableStyleId>
              </a:tblPr>
              <a:tblGrid>
                <a:gridCol w="1046025"/>
                <a:gridCol w="1046025"/>
                <a:gridCol w="1046025"/>
                <a:gridCol w="1046025"/>
                <a:gridCol w="1046025"/>
                <a:gridCol w="1046025"/>
                <a:gridCol w="1046025"/>
                <a:gridCol w="1046025"/>
              </a:tblGrid>
              <a:tr h="581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Dataset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Macro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Accuracy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Macro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Precision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Macro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Recall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Macro F1-Score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Weighted F1-Score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Train Time /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Evaluate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</a:tr>
              <a:tr h="618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Baseline Naive Bayes (7D)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Test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0.417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0.61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0.55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0.420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0.52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2.1 sec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9900"/>
                    </a:solidFill>
                  </a:tcPr>
                </a:tc>
              </a:tr>
              <a:tr h="47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Transformer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Train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0.589	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0.625	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0.588	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0.589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0.71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12.4 hours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</a:tr>
              <a:tr h="47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Transformer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Test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0.615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0.51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0.469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0.475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0.628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1.2 sec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</a:tr>
              <a:tr h="727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LLM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Test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0.738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0.68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0.59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0.573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0.74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4.4 min or 55.2 min    + explain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4A86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 txBox="1"/>
          <p:nvPr>
            <p:ph type="title"/>
          </p:nvPr>
        </p:nvSpPr>
        <p:spPr>
          <a:xfrm>
            <a:off x="447938" y="365950"/>
            <a:ext cx="7038900" cy="77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Transformer + Parameters</a:t>
            </a:r>
            <a:endParaRPr/>
          </a:p>
        </p:txBody>
      </p:sp>
      <p:sp>
        <p:nvSpPr>
          <p:cNvPr id="180" name="Google Shape;180;p25"/>
          <p:cNvSpPr txBox="1"/>
          <p:nvPr>
            <p:ph idx="1" type="body"/>
          </p:nvPr>
        </p:nvSpPr>
        <p:spPr>
          <a:xfrm>
            <a:off x="447950" y="1370900"/>
            <a:ext cx="7311000" cy="35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picked the transformer model because it’s better at understanding </a:t>
            </a:r>
            <a:r>
              <a:rPr lang="en"/>
              <a:t>contextual meanings in text compared to the other models.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Parameters: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RoBerta Base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No featuress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Learning_rate = 2e-5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Batch_size = 16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Num_train_epochs = 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12.4 hour train time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High accuracy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Strong performance on dominant classes</a:t>
            </a:r>
            <a:endParaRPr/>
          </a:p>
        </p:txBody>
      </p:sp>
      <p:sp>
        <p:nvSpPr>
          <p:cNvPr id="181" name="Google Shape;18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26"/>
          <p:cNvSpPr txBox="1"/>
          <p:nvPr/>
        </p:nvSpPr>
        <p:spPr>
          <a:xfrm>
            <a:off x="293950" y="5585425"/>
            <a:ext cx="418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6"/>
          <p:cNvSpPr txBox="1"/>
          <p:nvPr>
            <p:ph type="title"/>
          </p:nvPr>
        </p:nvSpPr>
        <p:spPr>
          <a:xfrm>
            <a:off x="447938" y="365950"/>
            <a:ext cx="7038900" cy="77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Evaluation</a:t>
            </a:r>
            <a:endParaRPr/>
          </a:p>
        </p:txBody>
      </p:sp>
      <p:sp>
        <p:nvSpPr>
          <p:cNvPr id="189" name="Google Shape;189;p26"/>
          <p:cNvSpPr txBox="1"/>
          <p:nvPr/>
        </p:nvSpPr>
        <p:spPr>
          <a:xfrm>
            <a:off x="447950" y="1489475"/>
            <a:ext cx="7836000" cy="30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Macro Score: Class Importances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Precision: Over Classifications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Accuracy: Minority Classes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Strong Generalizability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Model Learning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Important words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Context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Vocabulary comprehension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Train &gt; Test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0" name="Google Shape;190;p26" title="Screenshot 2025-10-28 at 5.01.5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142950"/>
            <a:ext cx="3698300" cy="355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Strengths and Weaknesses</a:t>
            </a:r>
            <a:endParaRPr/>
          </a:p>
        </p:txBody>
      </p:sp>
      <p:sp>
        <p:nvSpPr>
          <p:cNvPr id="196" name="Google Shape;196;p27"/>
          <p:cNvSpPr txBox="1"/>
          <p:nvPr>
            <p:ph idx="1" type="body"/>
          </p:nvPr>
        </p:nvSpPr>
        <p:spPr>
          <a:xfrm>
            <a:off x="5299250" y="1186525"/>
            <a:ext cx="3844800" cy="38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H</a:t>
            </a:r>
            <a:r>
              <a:rPr lang="en"/>
              <a:t>appiness F1-Score:  0.782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Anger F1-Score: 0.214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Class p</a:t>
            </a:r>
            <a:r>
              <a:rPr lang="en"/>
              <a:t>erformance</a:t>
            </a:r>
            <a:r>
              <a:rPr lang="en"/>
              <a:t> correlated with class size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Nuanced Classes: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Sadness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Fear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Hard to Classify: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Surprise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DIsgust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Model is learning to over classify majority classes</a:t>
            </a:r>
            <a:endParaRPr/>
          </a:p>
        </p:txBody>
      </p:sp>
      <p:sp>
        <p:nvSpPr>
          <p:cNvPr id="197" name="Google Shape;19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98" name="Google Shape;198;p27"/>
          <p:cNvGraphicFramePr/>
          <p:nvPr/>
        </p:nvGraphicFramePr>
        <p:xfrm>
          <a:off x="171125" y="146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{14FD6CCB-1C08-4772-AB31-D1C2108C0AB0}</a:tableStyleId>
              </a:tblPr>
              <a:tblGrid>
                <a:gridCol w="1025625"/>
                <a:gridCol w="1025625"/>
                <a:gridCol w="1025625"/>
                <a:gridCol w="1025625"/>
                <a:gridCol w="1025625"/>
              </a:tblGrid>
              <a:tr h="154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Emotion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Precision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Recall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F1-Score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Support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</a:tr>
              <a:tr h="160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Happiness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0.931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0.674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0.782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497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</a:tr>
              <a:tr h="160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Sadness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0.691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0.437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0.535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87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  <a:tr h="160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Anger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0.182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0.261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0.214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9900"/>
                    </a:solidFill>
                  </a:tcPr>
                </a:tc>
              </a:tr>
              <a:tr h="160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Surprise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0.360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0.381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0.370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105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chemeClr val="accent3"/>
                    </a:solidFill>
                  </a:tcPr>
                </a:tc>
              </a:tr>
              <a:tr h="160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Fear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99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0.571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99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0.400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99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0.471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99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70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9900FF"/>
                    </a:solidFill>
                  </a:tcPr>
                </a:tc>
              </a:tr>
              <a:tr h="160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Disgust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0.368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0.389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0.378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18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</a:tr>
              <a:tr h="160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Neutral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0.468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0.742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0.574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295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00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Error Analysis: Difficult Classifications</a:t>
            </a:r>
            <a:endParaRPr/>
          </a:p>
        </p:txBody>
      </p:sp>
      <p:sp>
        <p:nvSpPr>
          <p:cNvPr id="204" name="Google Shape;204;p28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Sentence: “The sauce is a little excessive”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Predicted label: anger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True label: disgust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M</a:t>
            </a:r>
            <a:r>
              <a:rPr lang="en"/>
              <a:t>odel thought that the word “excessive” might be associated with frustration or even annoyance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associated the sentence with anger, even though it’s more in line with disgust</a:t>
            </a:r>
            <a:endParaRPr/>
          </a:p>
        </p:txBody>
      </p:sp>
      <p:sp>
        <p:nvSpPr>
          <p:cNvPr id="205" name="Google Shape;205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Error Analysis: </a:t>
            </a:r>
            <a:r>
              <a:rPr lang="en"/>
              <a:t>Fixation on Vocabulary</a:t>
            </a:r>
            <a:endParaRPr/>
          </a:p>
        </p:txBody>
      </p:sp>
      <p:sp>
        <p:nvSpPr>
          <p:cNvPr id="211" name="Google Shape;211;p29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Sentence: “I went out there, I killed it”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Predicted label: anger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True label: happiness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M</a:t>
            </a:r>
            <a:r>
              <a:rPr lang="en"/>
              <a:t>odel thought that “I killed it” was used in a way that denotes anger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Sentence uses idiomatic expressions, such as “I killed it” which means “I did great”, which correlates with happiness / pride.</a:t>
            </a:r>
            <a:endParaRPr/>
          </a:p>
        </p:txBody>
      </p:sp>
      <p:sp>
        <p:nvSpPr>
          <p:cNvPr id="212" name="Google Shape;212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Error Analysis: </a:t>
            </a:r>
            <a:r>
              <a:rPr lang="en"/>
              <a:t>Short Sentences</a:t>
            </a:r>
            <a:endParaRPr/>
          </a:p>
        </p:txBody>
      </p:sp>
      <p:sp>
        <p:nvSpPr>
          <p:cNvPr id="218" name="Google Shape;218;p3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Sentence: “Welcome backstage.”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Predicted label: neutral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True label: happiness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The sentence “welcome backstage” is very difficult to distinguish between neutral and happiness. Very hard to tell without further context.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Model likely thought it was a simple greeting, or regular neutral statement.</a:t>
            </a:r>
            <a:endParaRPr/>
          </a:p>
        </p:txBody>
      </p:sp>
      <p:sp>
        <p:nvSpPr>
          <p:cNvPr id="219" name="Google Shape;21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1"/>
          <p:cNvSpPr txBox="1"/>
          <p:nvPr>
            <p:ph type="title"/>
          </p:nvPr>
        </p:nvSpPr>
        <p:spPr>
          <a:xfrm>
            <a:off x="454575" y="403025"/>
            <a:ext cx="1177200" cy="60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XAI</a:t>
            </a:r>
            <a:endParaRPr sz="2700"/>
          </a:p>
        </p:txBody>
      </p:sp>
      <p:sp>
        <p:nvSpPr>
          <p:cNvPr id="225" name="Google Shape;225;p31"/>
          <p:cNvSpPr txBox="1"/>
          <p:nvPr>
            <p:ph idx="1" type="body"/>
          </p:nvPr>
        </p:nvSpPr>
        <p:spPr>
          <a:xfrm>
            <a:off x="0" y="1096575"/>
            <a:ext cx="4435500" cy="396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3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54"/>
              <a:t> </a:t>
            </a:r>
            <a:r>
              <a:rPr lang="en" sz="5500"/>
              <a:t> WHY</a:t>
            </a:r>
            <a:endParaRPr sz="55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500"/>
              <a:t>Our model is strong, but it is a black box</a:t>
            </a:r>
            <a:endParaRPr sz="45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500"/>
              <a:t>XAI lets us see which words the model used for emotions</a:t>
            </a:r>
            <a:endParaRPr sz="45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500"/>
              <a:t> METHOD USED</a:t>
            </a:r>
            <a:endParaRPr sz="45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500"/>
              <a:t>C</a:t>
            </a:r>
            <a:r>
              <a:rPr lang="en" sz="4500"/>
              <a:t>onservative </a:t>
            </a:r>
            <a:r>
              <a:rPr lang="en" sz="4500"/>
              <a:t>propagation with a self attention map</a:t>
            </a:r>
            <a:endParaRPr sz="45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500"/>
              <a:t>Conservative propagation shows which words drove the final score.</a:t>
            </a:r>
            <a:endParaRPr sz="4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7" name="Google Shape;22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9300" y="1011725"/>
            <a:ext cx="4634700" cy="4131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2"/>
          <p:cNvSpPr txBox="1"/>
          <p:nvPr>
            <p:ph type="title"/>
          </p:nvPr>
        </p:nvSpPr>
        <p:spPr>
          <a:xfrm>
            <a:off x="0" y="0"/>
            <a:ext cx="3458700" cy="81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XAI</a:t>
            </a:r>
            <a:endParaRPr sz="2300"/>
          </a:p>
        </p:txBody>
      </p:sp>
      <p:sp>
        <p:nvSpPr>
          <p:cNvPr id="233" name="Google Shape;233;p32"/>
          <p:cNvSpPr txBox="1"/>
          <p:nvPr>
            <p:ph idx="1" type="body"/>
          </p:nvPr>
        </p:nvSpPr>
        <p:spPr>
          <a:xfrm>
            <a:off x="0" y="765700"/>
            <a:ext cx="3210900" cy="437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1447"/>
              <a:t>HEATMAP</a:t>
            </a:r>
            <a:endParaRPr sz="1447"/>
          </a:p>
          <a:p>
            <a:pPr indent="-320521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448"/>
              <a:buChar char="❏"/>
            </a:pPr>
            <a:r>
              <a:rPr lang="en" sz="1447"/>
              <a:t> Words on the left are rows. The same words at the bottom are columns.</a:t>
            </a:r>
            <a:endParaRPr sz="1447"/>
          </a:p>
          <a:p>
            <a:pPr indent="-32052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48"/>
              <a:buChar char="❏"/>
            </a:pPr>
            <a:r>
              <a:rPr lang="en" sz="1447"/>
              <a:t>A bright square means that row word is giving strong attention to the column word.</a:t>
            </a:r>
            <a:endParaRPr sz="1447"/>
          </a:p>
          <a:p>
            <a:pPr indent="-32052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48"/>
              <a:buChar char="❏"/>
            </a:pPr>
            <a:r>
              <a:rPr lang="en" sz="1447"/>
              <a:t>Blue is weak. Orange or red is strong. </a:t>
            </a:r>
            <a:endParaRPr sz="1447"/>
          </a:p>
          <a:p>
            <a:pPr indent="-32052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48"/>
              <a:buChar char="❏"/>
            </a:pPr>
            <a:r>
              <a:rPr lang="en" sz="1447"/>
              <a:t>The bright diagonal is a word looking at itself. That is normal.</a:t>
            </a:r>
            <a:endParaRPr sz="144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sz="955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523"/>
              <a:buNone/>
            </a:pPr>
            <a:r>
              <a:t/>
            </a:r>
            <a:endParaRPr sz="955"/>
          </a:p>
        </p:txBody>
      </p:sp>
      <p:sp>
        <p:nvSpPr>
          <p:cNvPr id="234" name="Google Shape;23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5" name="Google Shape;23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8725" y="-59400"/>
            <a:ext cx="5633649" cy="528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Prompt Engineering</a:t>
            </a:r>
            <a:endParaRPr/>
          </a:p>
        </p:txBody>
      </p:sp>
      <p:sp>
        <p:nvSpPr>
          <p:cNvPr id="241" name="Google Shape;241;p33"/>
          <p:cNvSpPr txBox="1"/>
          <p:nvPr>
            <p:ph idx="1" type="body"/>
          </p:nvPr>
        </p:nvSpPr>
        <p:spPr>
          <a:xfrm>
            <a:off x="769950" y="1591525"/>
            <a:ext cx="4064100" cy="33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Llama 3.</a:t>
            </a:r>
            <a:r>
              <a:rPr lang="en"/>
              <a:t>3 vs 3.2 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Structured Prompt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Definitions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Explicit Examples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Complications: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Short Sentences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Neutral vs. Happy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Class Imbalance</a:t>
            </a:r>
            <a:endParaRPr/>
          </a:p>
        </p:txBody>
      </p:sp>
      <p:sp>
        <p:nvSpPr>
          <p:cNvPr id="242" name="Google Shape;242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3" name="Google Shape;243;p33" title="Screenshot 2025-10-23 at 5.07.1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3800" y="1144137"/>
            <a:ext cx="4362675" cy="3645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3" title="Screenshot 2025-10-23 at 5.03.41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23800" y="1144125"/>
            <a:ext cx="4384625" cy="366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4"/>
          <p:cNvSpPr txBox="1"/>
          <p:nvPr>
            <p:ph type="title"/>
          </p:nvPr>
        </p:nvSpPr>
        <p:spPr>
          <a:xfrm>
            <a:off x="387900" y="274050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Modelling?</a:t>
            </a:r>
            <a:endParaRPr/>
          </a:p>
        </p:txBody>
      </p:sp>
      <p:sp>
        <p:nvSpPr>
          <p:cNvPr id="250" name="Google Shape;250;p34"/>
          <p:cNvSpPr txBox="1"/>
          <p:nvPr>
            <p:ph idx="1" type="body"/>
          </p:nvPr>
        </p:nvSpPr>
        <p:spPr>
          <a:xfrm>
            <a:off x="-44475" y="1646425"/>
            <a:ext cx="4572000" cy="379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Fear: Catches 81% but wrong half the time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Disgust: Only catches 22% but usually right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4.4 minutes for 1,095 samples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55.2 minutes for explainability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Full 60K dataset = 4 hours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Daily production runs = $900 to $11290/month in API costs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2" name="Google Shape;252;p34"/>
          <p:cNvSpPr txBox="1"/>
          <p:nvPr>
            <p:ph idx="1" type="body"/>
          </p:nvPr>
        </p:nvSpPr>
        <p:spPr>
          <a:xfrm>
            <a:off x="4527525" y="1718600"/>
            <a:ext cx="4449300" cy="2905200"/>
          </a:xfrm>
          <a:prstGeom prst="rect">
            <a:avLst/>
          </a:prstGeom>
          <a:solidFill>
            <a:schemeClr val="accent3"/>
          </a:solidFill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"/>
              <a:t>Predictable costs (not per-API-call pricing)</a:t>
            </a:r>
            <a:endParaRPr/>
          </a:p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"/>
              <a:t>Consistent performance (not prompt-dependent)</a:t>
            </a:r>
            <a:endParaRPr/>
          </a:p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"/>
              <a:t>Scalability (greater generalizability)</a:t>
            </a:r>
            <a:endParaRPr/>
          </a:p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"/>
              <a:t>Optimizable metrics (fine-tune for our specific needs)</a:t>
            </a:r>
            <a:endParaRPr/>
          </a:p>
          <a:p>
            <a:pPr indent="-3343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en"/>
              <a:t>Fast inference (real-time classification)</a:t>
            </a:r>
            <a:endParaRPr/>
          </a:p>
        </p:txBody>
      </p:sp>
      <p:sp>
        <p:nvSpPr>
          <p:cNvPr id="253" name="Google Shape;253;p34"/>
          <p:cNvSpPr txBox="1"/>
          <p:nvPr>
            <p:ph type="title"/>
          </p:nvPr>
        </p:nvSpPr>
        <p:spPr>
          <a:xfrm>
            <a:off x="1738574" y="1110800"/>
            <a:ext cx="1005900" cy="60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LLM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4" name="Google Shape;254;p34"/>
          <p:cNvSpPr txBox="1"/>
          <p:nvPr>
            <p:ph type="title"/>
          </p:nvPr>
        </p:nvSpPr>
        <p:spPr>
          <a:xfrm>
            <a:off x="5614125" y="1110800"/>
            <a:ext cx="2276100" cy="60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Transformer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Ethical Considerations</a:t>
            </a:r>
            <a:endParaRPr/>
          </a:p>
        </p:txBody>
      </p:sp>
      <p:sp>
        <p:nvSpPr>
          <p:cNvPr id="260" name="Google Shape;260;p35"/>
          <p:cNvSpPr txBox="1"/>
          <p:nvPr>
            <p:ph idx="1" type="body"/>
          </p:nvPr>
        </p:nvSpPr>
        <p:spPr>
          <a:xfrm>
            <a:off x="4712200" y="1616975"/>
            <a:ext cx="40440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Consent from user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English dominance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Used for job interviews, medical documents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Bias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Text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TV characters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Lacks human emotional understanding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2" name="Google Shape;262;p35" title="Ethical-consideration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750" y="1616975"/>
            <a:ext cx="4521451" cy="2543324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5"/>
          <p:cNvSpPr txBox="1"/>
          <p:nvPr/>
        </p:nvSpPr>
        <p:spPr>
          <a:xfrm>
            <a:off x="748400" y="4372825"/>
            <a:ext cx="3382500" cy="4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29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[</a:t>
            </a:r>
            <a:r>
              <a:rPr lang="en" sz="1829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4"/>
              </a:rPr>
              <a:t>Ethic AI Considerations</a:t>
            </a:r>
            <a:r>
              <a:rPr lang="en" sz="1829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, 2024]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Pipeline Limitations</a:t>
            </a:r>
            <a:endParaRPr/>
          </a:p>
        </p:txBody>
      </p:sp>
      <p:sp>
        <p:nvSpPr>
          <p:cNvPr id="269" name="Google Shape;269;p36"/>
          <p:cNvSpPr txBox="1"/>
          <p:nvPr>
            <p:ph idx="1" type="body"/>
          </p:nvPr>
        </p:nvSpPr>
        <p:spPr>
          <a:xfrm>
            <a:off x="387900" y="1489825"/>
            <a:ext cx="4184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Black box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Reddit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Not dialogue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Emojis,  punctuation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Only English and Dutch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Lacks emotional </a:t>
            </a:r>
            <a:r>
              <a:rPr lang="en"/>
              <a:t>variety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Heavy model</a:t>
            </a:r>
            <a:endParaRPr/>
          </a:p>
        </p:txBody>
      </p:sp>
      <p:sp>
        <p:nvSpPr>
          <p:cNvPr id="270" name="Google Shape;270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1" name="Google Shape;271;p36" title="BLOG_Holding-Black-Box-Models-Accountable-Through-Interpretability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0775" y="1525150"/>
            <a:ext cx="5083499" cy="209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6"/>
          <p:cNvSpPr txBox="1"/>
          <p:nvPr/>
        </p:nvSpPr>
        <p:spPr>
          <a:xfrm>
            <a:off x="4982076" y="3961925"/>
            <a:ext cx="2868900" cy="4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29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[</a:t>
            </a:r>
            <a:r>
              <a:rPr lang="en" sz="1829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4"/>
              </a:rPr>
              <a:t>Elder Research</a:t>
            </a:r>
            <a:r>
              <a:rPr lang="en" sz="1829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, 2024]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278" name="Google Shape;278;p37"/>
          <p:cNvSpPr txBox="1"/>
          <p:nvPr>
            <p:ph idx="1" type="body"/>
          </p:nvPr>
        </p:nvSpPr>
        <p:spPr>
          <a:xfrm>
            <a:off x="4655100" y="1534150"/>
            <a:ext cx="4418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Train Set: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Manually Inspected Emotion Mapping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Larger dataset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Test Set: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Classification Accuracy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Balanced Classes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Future: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More Emotions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More Languages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/>
              <a:t>Emotion Intensity</a:t>
            </a:r>
            <a:endParaRPr/>
          </a:p>
        </p:txBody>
      </p:sp>
      <p:sp>
        <p:nvSpPr>
          <p:cNvPr id="279" name="Google Shape;279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0" name="Google Shape;280;p37" title="Screenshot 2025-10-22 at 12.41.3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900" y="1534138"/>
            <a:ext cx="4267200" cy="2564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8"/>
          <p:cNvSpPr txBox="1"/>
          <p:nvPr>
            <p:ph type="title"/>
          </p:nvPr>
        </p:nvSpPr>
        <p:spPr>
          <a:xfrm>
            <a:off x="3401250" y="1885650"/>
            <a:ext cx="23415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286" name="Google Shape;286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